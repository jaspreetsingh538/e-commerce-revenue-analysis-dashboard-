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502920"/>
            <a:ext cx="3520440" cy="571500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4389120"/>
            <a:ext cx="310896" cy="1005840"/>
          </a:xfrm>
          <a:prstGeom prst="rect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79992" y="3886200"/>
            <a:ext cx="310896" cy="1508760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01784" y="4389120"/>
            <a:ext cx="310896" cy="1005840"/>
          </a:xfrm>
          <a:prstGeom prst="rect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23576" y="3886200"/>
            <a:ext cx="310896" cy="1508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5836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2AC5E0"/>
                </a:solidFill>
                <a:latin typeface="Aptos"/>
              </a:rP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685800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5F6FF"/>
                </a:solidFill>
                <a:latin typeface="Aptos"/>
              </a:rPr>
              <a:t>Revenue
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03320"/>
            <a:ext cx="62179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B4BBD8"/>
                </a:solidFill>
                <a:latin typeface="Aptos"/>
              </a:rPr>
              <a:t>A visual review of sales, profitability,
regional performance and customer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89320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975CF5"/>
                </a:solidFill>
                <a:latin typeface="Aptos"/>
              </a:rPr>
              <a:t>POWER BI DASHBOARD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01  / 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74920"/>
            <a:ext cx="5303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58AFF"/>
                </a:solidFill>
                <a:latin typeface="Aptos"/>
              </a:rPr>
              <a:t>Presented by Jaspreet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Dashboard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The dashboard combines headline KPIs with regional, customer, product and monthly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02  /  09</a:t>
            </a:r>
          </a:p>
        </p:txBody>
      </p:sp>
      <p:pic>
        <p:nvPicPr>
          <p:cNvPr id="6" name="Picture 5" descr="IMG-20261013-WA0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48" y="1481328"/>
            <a:ext cx="8798797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382512"/>
            <a:ext cx="59436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4BBD8"/>
                </a:solidFill>
                <a:latin typeface="Aptos"/>
              </a:rPr>
              <a:t>Source: supplied Power BI dashboard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Headline metrics provide a fast snapshot of the store's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03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606040" cy="1078992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078992"/>
          </a:xfrm>
          <a:prstGeom prst="rect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B4BBD8"/>
                </a:solidFill>
                <a:latin typeface="Aptos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2286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5F6FF"/>
                </a:solidFill>
                <a:latin typeface="Aptos"/>
              </a:rPr>
              <a:t>128.59K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96312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4BBD8"/>
                </a:solidFill>
                <a:latin typeface="Aptos"/>
              </a:rPr>
              <a:t>Revenue shown in dashboard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06040" cy="1078992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64008" cy="1078992"/>
          </a:xfrm>
          <a:prstGeom prst="rect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37944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B4BBD8"/>
                </a:solidFill>
                <a:latin typeface="Aptos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084832"/>
            <a:ext cx="2286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5F6FF"/>
                </a:solidFill>
                <a:latin typeface="Aptos"/>
              </a:rPr>
              <a:t>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96312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4BBD8"/>
                </a:solidFill>
                <a:latin typeface="Aptos"/>
              </a:rPr>
              <a:t>Approximately one thousand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2606040" cy="1078992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64008" cy="10789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837944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B4BBD8"/>
                </a:solidFill>
                <a:latin typeface="Aptos"/>
              </a:rPr>
              <a:t>TOTAL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084832"/>
            <a:ext cx="2286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5F6FF"/>
                </a:solidFill>
                <a:latin typeface="Aptos"/>
              </a:rPr>
              <a:t>19.94K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496312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4BBD8"/>
                </a:solidFill>
                <a:latin typeface="Aptos"/>
              </a:rPr>
              <a:t>Profit contribution across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91640"/>
            <a:ext cx="2423160" cy="1078992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691640"/>
            <a:ext cx="64008" cy="10789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837944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B4BBD8"/>
                </a:solidFill>
                <a:latin typeface="Aptos"/>
              </a:rPr>
              <a:t>UNIT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084832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300" b="1" i="0">
                <a:solidFill>
                  <a:srgbClr val="F5F6FF"/>
                </a:solidFill>
                <a:latin typeface="Aptos"/>
              </a:rPr>
              <a:t>31.91K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496312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4BBD8"/>
                </a:solidFill>
                <a:latin typeface="Aptos"/>
              </a:rPr>
              <a:t>Label/value as displayed in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154680"/>
            <a:ext cx="10789920" cy="23317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429000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What these KPIs tell us</a:t>
            </a:r>
          </a:p>
        </p:txBody>
      </p:sp>
      <p:sp>
        <p:nvSpPr>
          <p:cNvPr id="28" name="Oval 27"/>
          <p:cNvSpPr/>
          <p:nvPr/>
        </p:nvSpPr>
        <p:spPr>
          <a:xfrm>
            <a:off x="987552" y="4032504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152" y="3931920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Revenue and profit should be read together to understand commercial performance.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" y="5269992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516940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Units sold gives a volume view, while cost metrics add context to profitability.</a:t>
            </a:r>
          </a:p>
        </p:txBody>
      </p:sp>
      <p:sp>
        <p:nvSpPr>
          <p:cNvPr id="32" name="Oval 31"/>
          <p:cNvSpPr/>
          <p:nvPr/>
        </p:nvSpPr>
        <p:spPr>
          <a:xfrm>
            <a:off x="987552" y="6507480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6406896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Use consistent currency, units and time periods before comparing or presenting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Regional Revenue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The donut chart compares each region's contribution to total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04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937760" cy="434340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2062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Revenue mix by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87168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North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87168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43.41K  ·  33.76%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798064"/>
            <a:ext cx="4160520" cy="137160"/>
          </a:xfrm>
          <a:prstGeom prst="roundRect">
            <a:avLst/>
          </a:prstGeom>
          <a:solidFill>
            <a:srgbClr val="2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798064"/>
            <a:ext cx="4160520" cy="1371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145536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Asia Pacific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145536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30.26K  ·  23.53%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456432"/>
            <a:ext cx="4160520" cy="137160"/>
          </a:xfrm>
          <a:prstGeom prst="roundRect">
            <a:avLst/>
          </a:prstGeom>
          <a:solidFill>
            <a:srgbClr val="2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56432"/>
            <a:ext cx="2899793" cy="137160"/>
          </a:xfrm>
          <a:prstGeom prst="roundRect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03904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Europe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803904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24.42K  ·  18.99%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4114800"/>
            <a:ext cx="4160520" cy="137160"/>
          </a:xfrm>
          <a:prstGeom prst="roundRect">
            <a:avLst/>
          </a:prstGeom>
          <a:solidFill>
            <a:srgbClr val="2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" y="4114800"/>
            <a:ext cx="2340292" cy="137160"/>
          </a:xfrm>
          <a:prstGeom prst="round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462272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Latin America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462272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15.86K  ·  12.33%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773168"/>
            <a:ext cx="4160520" cy="137160"/>
          </a:xfrm>
          <a:prstGeom prst="roundRect">
            <a:avLst/>
          </a:prstGeom>
          <a:solidFill>
            <a:srgbClr val="2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773168"/>
            <a:ext cx="1519526" cy="137160"/>
          </a:xfrm>
          <a:prstGeom prst="roundRect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120640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Middle East &amp; Africa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120640"/>
            <a:ext cx="2057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14.65K  ·  11.40%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" y="5431536"/>
            <a:ext cx="4160520" cy="137160"/>
          </a:xfrm>
          <a:prstGeom prst="roundRect">
            <a:avLst/>
          </a:prstGeom>
          <a:solidFill>
            <a:srgbClr val="2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" y="5431536"/>
            <a:ext cx="1404914" cy="137160"/>
          </a:xfrm>
          <a:prstGeom prst="roundRect">
            <a:avLst/>
          </a:prstGeom>
          <a:solidFill>
            <a:srgbClr val="5C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97880" y="1600200"/>
            <a:ext cx="5577840" cy="434340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874519"/>
            <a:ext cx="43891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Key observations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2569464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468880"/>
            <a:ext cx="44805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North America is the largest contributor at about one-third of revenue.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3806952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706368"/>
            <a:ext cx="44805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Asia Pacific is the second-largest market and an important growth area.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5044440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43856"/>
            <a:ext cx="44805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Europe contributes just under one-fifth of total revenue.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6281928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6181344"/>
            <a:ext cx="44805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The two smallest regions still represent nearly one-quarter combined.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Monthly Revenue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The line chart highlights changes in revenue throughout the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05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400800" cy="43891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Trend interpretation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615184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5257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Revenue is strongest around spring and early summer, with peaks near April and June.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852672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52088"/>
            <a:ext cx="5257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The middle of the year shows a gradual decline after the early-year highs.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5090160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989576"/>
            <a:ext cx="5257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October and November show a noticeable drop, followed by a December recovery.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6327648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6227064"/>
            <a:ext cx="5257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Investigate seasonal demand, promotions, stock availability and campaign timing.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14800" cy="4389120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920240"/>
            <a:ext cx="3474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2AC5E0"/>
                </a:solidFill>
                <a:latin typeface="Aptos"/>
              </a:rPr>
              <a:t>Recommended follow-up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60604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Compare each month's revenue with: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255264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154680"/>
            <a:ext cx="2971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Units sold</a:t>
            </a:r>
          </a:p>
        </p:txBody>
      </p:sp>
      <p:sp>
        <p:nvSpPr>
          <p:cNvPr id="21" name="Oval 20"/>
          <p:cNvSpPr/>
          <p:nvPr/>
        </p:nvSpPr>
        <p:spPr>
          <a:xfrm>
            <a:off x="7726679" y="4340352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239768"/>
            <a:ext cx="2971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Discounts and promotions</a:t>
            </a:r>
          </a:p>
        </p:txBody>
      </p:sp>
      <p:sp>
        <p:nvSpPr>
          <p:cNvPr id="23" name="Oval 22"/>
          <p:cNvSpPr/>
          <p:nvPr/>
        </p:nvSpPr>
        <p:spPr>
          <a:xfrm>
            <a:off x="7726679" y="5425440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5324856"/>
            <a:ext cx="2971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Product availability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7726679" y="6510528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6409944"/>
            <a:ext cx="2971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Marketing spend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Product-Level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The bar chart ranks products by total profit and exposes loss-making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06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663440" cy="443484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023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How to read the chart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569464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36576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Products on the left generate the highest profit in the displayed ranking.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806952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06368"/>
            <a:ext cx="36576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Profit drops across the product list, suggesting uneven contribution.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5044440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943856"/>
            <a:ext cx="36576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Bars below zero indicate products with negative profit.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6281928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6181344"/>
            <a:ext cx="36576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Long product labels can be shortened or displayed horizontally for readability.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600200"/>
            <a:ext cx="5852160" cy="443484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874519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Actions for the business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2569464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46634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Protect inventory and visibility for consistently profitable products.</a:t>
            </a:r>
          </a:p>
        </p:txBody>
      </p:sp>
      <p:sp>
        <p:nvSpPr>
          <p:cNvPr id="20" name="Oval 19"/>
          <p:cNvSpPr/>
          <p:nvPr/>
        </p:nvSpPr>
        <p:spPr>
          <a:xfrm>
            <a:off x="5989320" y="3806952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706368"/>
            <a:ext cx="46634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Review pricing, supplier costs and discount levels for low-margin items.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5044440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943856"/>
            <a:ext cx="46634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Check negative-profit products for returns, data errors or excessive promotions.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6281928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81344"/>
            <a:ext cx="46634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Use profit margin alongside total profit to avoid favouring only high-volume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Customer Demographics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The gender distribution chart summarizes the customer mix captured in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07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43891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F5F6FF"/>
                </a:solidFill>
                <a:latin typeface="Aptos"/>
              </a:rPr>
              <a:t>Visible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606040"/>
            <a:ext cx="4526280" cy="566928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788920"/>
            <a:ext cx="164592" cy="164592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734056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Female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34056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231  ·  46.2%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319272"/>
            <a:ext cx="4526280" cy="566928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3502152"/>
            <a:ext cx="164592" cy="164592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447288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Male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47288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243  ·  48.6%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032504"/>
            <a:ext cx="4526280" cy="566928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4215384"/>
            <a:ext cx="164592" cy="164592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16052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Prefer not to say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605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17  ·  3.4%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745736"/>
            <a:ext cx="4526280" cy="566928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4928616"/>
            <a:ext cx="164592" cy="164592"/>
          </a:xfrm>
          <a:prstGeom prst="ellipse">
            <a:avLst/>
          </a:prstGeom>
          <a:solidFill>
            <a:srgbClr val="5C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87375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5F6FF"/>
                </a:solidFill>
                <a:latin typeface="Aptos"/>
              </a:rPr>
              <a:t>Non-binary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87375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B4BBD8"/>
                </a:solidFill>
                <a:latin typeface="Aptos"/>
              </a:rPr>
              <a:t>Small share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00200"/>
            <a:ext cx="5257800" cy="43891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874519"/>
            <a:ext cx="4480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5F6FF"/>
                </a:solidFill>
                <a:latin typeface="Aptos"/>
              </a:rPr>
              <a:t>Interpretation and responsible use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2615184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2514600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The chart shows a broadly balanced split between male and female customers.</a:t>
            </a:r>
          </a:p>
        </p:txBody>
      </p:sp>
      <p:sp>
        <p:nvSpPr>
          <p:cNvPr id="28" name="Oval 27"/>
          <p:cNvSpPr/>
          <p:nvPr/>
        </p:nvSpPr>
        <p:spPr>
          <a:xfrm>
            <a:off x="6565392" y="3852672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752088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Keep inclusive response categories available in future surveys.</a:t>
            </a:r>
          </a:p>
        </p:txBody>
      </p:sp>
      <p:sp>
        <p:nvSpPr>
          <p:cNvPr id="30" name="Oval 29"/>
          <p:cNvSpPr/>
          <p:nvPr/>
        </p:nvSpPr>
        <p:spPr>
          <a:xfrm>
            <a:off x="6565392" y="5090160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4989576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Demographic data should inform service improvements, not stereotypes.</a:t>
            </a:r>
          </a:p>
        </p:txBody>
      </p:sp>
      <p:sp>
        <p:nvSpPr>
          <p:cNvPr id="32" name="Oval 31"/>
          <p:cNvSpPr/>
          <p:nvPr/>
        </p:nvSpPr>
        <p:spPr>
          <a:xfrm>
            <a:off x="6565392" y="6327648"/>
            <a:ext cx="109728" cy="109728"/>
          </a:xfrm>
          <a:prstGeom prst="ellipse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6227064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Cross-analyze with product category, region and repeat purchase behavior where appropriate.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Payment Patterns &amp; Global 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Payment-method counts are shown by region, alongside a geographic view of units sold.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08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43891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5F6FF"/>
                </a:solidFill>
                <a:latin typeface="Aptos"/>
              </a:rPr>
              <a:t>Payment method / region view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569464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The visual suggests transactions are spread across multiple regions.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806952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06368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North America appears to have the largest count in the displayed breakdown.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5044440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943856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A count chart should be paired with payment-method names to clarify what customers use.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6281928"/>
            <a:ext cx="109728" cy="109728"/>
          </a:xfrm>
          <a:prstGeom prst="ellipse">
            <a:avLst/>
          </a:prstGeom>
          <a:solidFill>
            <a:srgbClr val="2A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6181344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Check whether the current chart is grouped by region or payment method; the field assignment should match the title.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257800" cy="438912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5F6FF"/>
                </a:solidFill>
                <a:latin typeface="Aptos"/>
              </a:rPr>
              <a:t>Map visual: use with care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2569464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468880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A map is most useful when the location field is recognized as a geographic place.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806952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3706368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Use country, city or latitude/longitude fields rather than broad text labels where possible.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5044440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943856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The map should display a measurable value, such as units sold or revenue, for each location.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6281928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6181344"/>
            <a:ext cx="42976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5F6FF"/>
                </a:solidFill>
                <a:latin typeface="Aptos"/>
              </a:rPr>
              <a:t>Validate geocoding and remove ambiguous region names before drawing conclusions.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 i="0">
                <a:solidFill>
                  <a:srgbClr val="975CF5"/>
                </a:solidFill>
                <a:latin typeface="Aptos"/>
              </a:rPr>
              <a:t>Conclusions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0292"/>
          </a:xfrm>
          <a:prstGeom prst="rect">
            <a:avLst/>
          </a:prstGeom>
          <a:solidFill>
            <a:srgbClr val="EC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Turn dashboard observations into practical actions and a stronger reporting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 i="0">
                <a:solidFill>
                  <a:srgbClr val="B4BBD8"/>
                </a:solidFill>
                <a:latin typeface="Aptos"/>
              </a:rPr>
              <a:t>09  /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629400" cy="4434840"/>
          </a:xfrm>
          <a:prstGeom prst="roundRect">
            <a:avLst/>
          </a:prstGeom>
          <a:solidFill>
            <a:srgbClr val="1C275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5F6FF"/>
                </a:solidFill>
                <a:latin typeface="Aptos"/>
              </a:rPr>
              <a:t>Priority recommendations</a:t>
            </a:r>
          </a:p>
        </p:txBody>
      </p:sp>
      <p:sp>
        <p:nvSpPr>
          <p:cNvPr id="8" name="Oval 7"/>
          <p:cNvSpPr/>
          <p:nvPr/>
        </p:nvSpPr>
        <p:spPr>
          <a:xfrm>
            <a:off x="1024128" y="2587752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487168"/>
            <a:ext cx="55778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Investigate the late-year revenue decline and identify the causes of the December rebound.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3825240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724656"/>
            <a:ext cx="55778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Build a product action list for the highest-profit and negative-profit items.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8" y="5062728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962144"/>
            <a:ext cx="55778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Compare revenue, profit, units and cost using aligned measures and definitions.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6300216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6199632"/>
            <a:ext cx="55778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Add slicers for date, region, product category and payment method.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7537704"/>
            <a:ext cx="109728" cy="109728"/>
          </a:xfrm>
          <a:prstGeom prst="ellipse">
            <a:avLst/>
          </a:prstGeom>
          <a:solidFill>
            <a:srgbClr val="97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7437120"/>
            <a:ext cx="55778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5F6FF"/>
                </a:solidFill>
                <a:latin typeface="Aptos"/>
              </a:rPr>
              <a:t>Review data types, geographic fields, currency and KPI calculations before sharing.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00200"/>
            <a:ext cx="3840480" cy="4434840"/>
          </a:xfrm>
          <a:prstGeom prst="roundRect">
            <a:avLst/>
          </a:prstGeom>
          <a:solidFill>
            <a:srgbClr val="0E1530"/>
          </a:solidFill>
          <a:ln w="10160">
            <a:solidFill>
              <a:srgbClr val="35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9659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2AC5E0"/>
                </a:solidFill>
                <a:latin typeface="Aptos"/>
              </a:rPr>
              <a:t>Final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606040"/>
            <a:ext cx="306324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5F6FF"/>
                </a:solidFill>
                <a:latin typeface="Aptos"/>
              </a:rPr>
              <a:t>Revenue is healthy at a headline level, but the dashboard's greatest value is in finding where performance differs by region, month and product.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4434840"/>
            <a:ext cx="3063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B4BBD8"/>
                </a:solidFill>
                <a:latin typeface="Aptos"/>
              </a:rPr>
              <a:t>Use the dashboard as a starting point for investigation—not as a substitute for validating the underlying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54864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975CF5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